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45621" autoAdjust="0"/>
  </p:normalViewPr>
  <p:slideViewPr>
    <p:cSldViewPr snapToGrid="0" snapToObjects="1">
      <p:cViewPr varScale="1">
        <p:scale>
          <a:sx n="31" d="100"/>
          <a:sy n="31" d="100"/>
        </p:scale>
        <p:origin x="240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26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514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733288"/>
            <a:ext cx="13267944" cy="2743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85800" y="3831336"/>
            <a:ext cx="1326794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620"/>
              </a:lnSpc>
              <a:buNone/>
            </a:pPr>
            <a:r>
              <a:rPr lang="en-US" sz="529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ISO/IEC 27001:2022 – Information Security Management Standard</a:t>
            </a:r>
            <a:endParaRPr lang="en-US" sz="52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841248"/>
            <a:ext cx="13267944" cy="8046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90"/>
              </a:lnSpc>
              <a:buNone/>
            </a:pPr>
            <a:r>
              <a:rPr lang="en-US" sz="503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CONTENTS</a:t>
            </a:r>
            <a:endParaRPr lang="en-US" sz="5030" dirty="0"/>
          </a:p>
        </p:txBody>
      </p:sp>
      <p:sp>
        <p:nvSpPr>
          <p:cNvPr id="5" name="Text 1"/>
          <p:cNvSpPr/>
          <p:nvPr/>
        </p:nvSpPr>
        <p:spPr>
          <a:xfrm>
            <a:off x="886968" y="2048256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Awareness Presentation for Implementers</a:t>
            </a:r>
            <a:endParaRPr lang="en-US" sz="1820" dirty="0"/>
          </a:p>
        </p:txBody>
      </p:sp>
      <p:sp>
        <p:nvSpPr>
          <p:cNvPr id="6" name="Text 2"/>
          <p:cNvSpPr/>
          <p:nvPr/>
        </p:nvSpPr>
        <p:spPr>
          <a:xfrm>
            <a:off x="886968" y="3502152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The PDCA Cycle (Continuous Improvement Model)</a:t>
            </a:r>
            <a:endParaRPr lang="en-US" sz="1820" dirty="0"/>
          </a:p>
        </p:txBody>
      </p:sp>
      <p:sp>
        <p:nvSpPr>
          <p:cNvPr id="7" name="Text 3"/>
          <p:cNvSpPr/>
          <p:nvPr/>
        </p:nvSpPr>
        <p:spPr>
          <a:xfrm>
            <a:off x="4251960" y="2048256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Why Information Security Matters</a:t>
            </a:r>
            <a:endParaRPr lang="en-US" sz="1820" dirty="0"/>
          </a:p>
        </p:txBody>
      </p:sp>
      <p:sp>
        <p:nvSpPr>
          <p:cNvPr id="8" name="Text 4"/>
          <p:cNvSpPr/>
          <p:nvPr/>
        </p:nvSpPr>
        <p:spPr>
          <a:xfrm>
            <a:off x="886968" y="4956048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Benefits of Implementing ISO 27001</a:t>
            </a:r>
            <a:endParaRPr lang="en-US" sz="1820" dirty="0"/>
          </a:p>
        </p:txBody>
      </p:sp>
      <p:sp>
        <p:nvSpPr>
          <p:cNvPr id="9" name="Text 5"/>
          <p:cNvSpPr/>
          <p:nvPr/>
        </p:nvSpPr>
        <p:spPr>
          <a:xfrm>
            <a:off x="4251960" y="3502152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Clauses of ISO 27001 (Clauses 4 – 10)</a:t>
            </a:r>
            <a:endParaRPr lang="en-US" sz="1820" dirty="0"/>
          </a:p>
        </p:txBody>
      </p:sp>
      <p:sp>
        <p:nvSpPr>
          <p:cNvPr id="10" name="Text 6"/>
          <p:cNvSpPr/>
          <p:nvPr/>
        </p:nvSpPr>
        <p:spPr>
          <a:xfrm>
            <a:off x="886968" y="6409944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Measuring Performance (KPIs)</a:t>
            </a:r>
            <a:endParaRPr lang="en-US" sz="1820" dirty="0"/>
          </a:p>
        </p:txBody>
      </p:sp>
      <p:sp>
        <p:nvSpPr>
          <p:cNvPr id="11" name="Text 7"/>
          <p:cNvSpPr/>
          <p:nvPr/>
        </p:nvSpPr>
        <p:spPr>
          <a:xfrm>
            <a:off x="4251960" y="4956048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Roles and Responsibilities</a:t>
            </a:r>
            <a:endParaRPr lang="en-US" sz="1820" dirty="0"/>
          </a:p>
        </p:txBody>
      </p:sp>
      <p:sp>
        <p:nvSpPr>
          <p:cNvPr id="12" name="Text 8"/>
          <p:cNvSpPr/>
          <p:nvPr/>
        </p:nvSpPr>
        <p:spPr>
          <a:xfrm>
            <a:off x="4251960" y="6409944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Conclusion</a:t>
            </a:r>
            <a:endParaRPr lang="en-US" sz="1820" dirty="0"/>
          </a:p>
        </p:txBody>
      </p:sp>
      <p:sp>
        <p:nvSpPr>
          <p:cNvPr id="13" name="Text 9"/>
          <p:cNvSpPr/>
          <p:nvPr/>
        </p:nvSpPr>
        <p:spPr>
          <a:xfrm>
            <a:off x="7616952" y="2048256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What is ISO/IEC 27001:2022</a:t>
            </a:r>
            <a:endParaRPr lang="en-US" sz="1820" dirty="0"/>
          </a:p>
        </p:txBody>
      </p:sp>
      <p:sp>
        <p:nvSpPr>
          <p:cNvPr id="14" name="Text 10"/>
          <p:cNvSpPr/>
          <p:nvPr/>
        </p:nvSpPr>
        <p:spPr>
          <a:xfrm>
            <a:off x="7616952" y="3502152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Annex A Control Structure (93 Controls)</a:t>
            </a:r>
            <a:endParaRPr lang="en-US" sz="1820" dirty="0"/>
          </a:p>
        </p:txBody>
      </p:sp>
      <p:sp>
        <p:nvSpPr>
          <p:cNvPr id="15" name="Text 11"/>
          <p:cNvSpPr/>
          <p:nvPr/>
        </p:nvSpPr>
        <p:spPr>
          <a:xfrm>
            <a:off x="7616952" y="4956048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Common Challenges &amp; Solutions</a:t>
            </a:r>
            <a:endParaRPr lang="en-US" sz="1820" dirty="0"/>
          </a:p>
        </p:txBody>
      </p:sp>
      <p:sp>
        <p:nvSpPr>
          <p:cNvPr id="16" name="Text 12"/>
          <p:cNvSpPr/>
          <p:nvPr/>
        </p:nvSpPr>
        <p:spPr>
          <a:xfrm>
            <a:off x="10972800" y="2048256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Core Principles of ISO 27001</a:t>
            </a:r>
            <a:endParaRPr lang="en-US" sz="1820" dirty="0"/>
          </a:p>
        </p:txBody>
      </p:sp>
      <p:sp>
        <p:nvSpPr>
          <p:cNvPr id="17" name="Text 13"/>
          <p:cNvSpPr/>
          <p:nvPr/>
        </p:nvSpPr>
        <p:spPr>
          <a:xfrm>
            <a:off x="10972800" y="3502152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Key Implementation Steps</a:t>
            </a:r>
            <a:endParaRPr lang="en-US" sz="1820" dirty="0"/>
          </a:p>
        </p:txBody>
      </p:sp>
      <p:sp>
        <p:nvSpPr>
          <p:cNvPr id="18" name="Text 14"/>
          <p:cNvSpPr/>
          <p:nvPr/>
        </p:nvSpPr>
        <p:spPr>
          <a:xfrm>
            <a:off x="10972800" y="4956048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8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Real-World Examples</a:t>
            </a:r>
            <a:endParaRPr lang="en-US" sz="1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2752344"/>
            <a:ext cx="8293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Awareness Presentation for Implementers</a:t>
            </a:r>
            <a:endParaRPr lang="en-US" sz="3840" dirty="0"/>
          </a:p>
        </p:txBody>
      </p:sp>
      <p:sp>
        <p:nvSpPr>
          <p:cNvPr id="6" name="Text 2"/>
          <p:cNvSpPr/>
          <p:nvPr/>
        </p:nvSpPr>
        <p:spPr>
          <a:xfrm>
            <a:off x="685800" y="6729984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3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T. H. Ranasinghe</a:t>
            </a:r>
          </a:p>
          <a:p>
            <a:pPr marL="0" indent="0" algn="l">
              <a:lnSpc>
                <a:spcPts val="1920"/>
              </a:lnSpc>
              <a:buNone/>
            </a:pPr>
            <a:r>
              <a:rPr lang="en-US" sz="3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</a:p>
          <a:p>
            <a:pPr marL="0" indent="0" algn="l">
              <a:lnSpc>
                <a:spcPts val="1920"/>
              </a:lnSpc>
              <a:buNone/>
            </a:pPr>
            <a:r>
              <a:rPr lang="en-US" sz="3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IT23269484</a:t>
            </a:r>
          </a:p>
          <a:p>
            <a:pPr marL="0" indent="0" algn="l">
              <a:lnSpc>
                <a:spcPts val="1920"/>
              </a:lnSpc>
              <a:buNone/>
            </a:pPr>
            <a:endParaRPr lang="en-US" sz="3200" dirty="0">
              <a:solidFill>
                <a:srgbClr val="DBDBDB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1920"/>
              </a:lnSpc>
              <a:buNone/>
            </a:pPr>
            <a:r>
              <a:rPr lang="en-US" sz="3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SLIIT Kandy UNI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956816"/>
            <a:ext cx="6537960" cy="134416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29000"/>
            <a:ext cx="6537960" cy="12801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910328"/>
            <a:ext cx="6537960" cy="133948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1956816"/>
            <a:ext cx="6537960" cy="128016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3429000"/>
            <a:ext cx="6537960" cy="128016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6457671"/>
            <a:ext cx="6537960" cy="133948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2770632"/>
            <a:ext cx="6089904" cy="24688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242816"/>
            <a:ext cx="6089904" cy="24688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715000"/>
            <a:ext cx="6089904" cy="49377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4384" y="2770632"/>
            <a:ext cx="6089904" cy="24688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4384" y="4242816"/>
            <a:ext cx="6089904" cy="24688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4384" y="5715000"/>
            <a:ext cx="6089904" cy="49377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112" y="2167128"/>
            <a:ext cx="420624" cy="42062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112" y="3639312"/>
            <a:ext cx="420624" cy="42062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112" y="5120640"/>
            <a:ext cx="420624" cy="42062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6096" y="2167128"/>
            <a:ext cx="420624" cy="42062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6096" y="3639312"/>
            <a:ext cx="420624" cy="420624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85800" y="1133856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Why Information Security Matters</a:t>
            </a:r>
            <a:endParaRPr lang="en-US" sz="3840" dirty="0"/>
          </a:p>
        </p:txBody>
      </p:sp>
      <p:sp>
        <p:nvSpPr>
          <p:cNvPr id="23" name="Text 1"/>
          <p:cNvSpPr/>
          <p:nvPr/>
        </p:nvSpPr>
        <p:spPr>
          <a:xfrm>
            <a:off x="1033272" y="2203704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920" dirty="0"/>
          </a:p>
        </p:txBody>
      </p:sp>
      <p:sp>
        <p:nvSpPr>
          <p:cNvPr id="24" name="Text 2"/>
          <p:cNvSpPr/>
          <p:nvPr/>
        </p:nvSpPr>
        <p:spPr>
          <a:xfrm>
            <a:off x="1179576" y="2761488"/>
            <a:ext cx="60899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Cyber-attacks and data breaches rise &gt; 15% yearly.</a:t>
            </a:r>
            <a:endParaRPr lang="en-US" sz="2200" dirty="0"/>
          </a:p>
        </p:txBody>
      </p:sp>
      <p:sp>
        <p:nvSpPr>
          <p:cNvPr id="25" name="Text 3"/>
          <p:cNvSpPr/>
          <p:nvPr/>
        </p:nvSpPr>
        <p:spPr>
          <a:xfrm>
            <a:off x="1033272" y="3675888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920" dirty="0"/>
          </a:p>
        </p:txBody>
      </p:sp>
      <p:sp>
        <p:nvSpPr>
          <p:cNvPr id="26" name="Text 4"/>
          <p:cNvSpPr/>
          <p:nvPr/>
        </p:nvSpPr>
        <p:spPr>
          <a:xfrm>
            <a:off x="1440180" y="4164757"/>
            <a:ext cx="60899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Information = core asset of every organization.</a:t>
            </a:r>
            <a:endParaRPr lang="en-US" sz="2200" dirty="0"/>
          </a:p>
        </p:txBody>
      </p:sp>
      <p:sp>
        <p:nvSpPr>
          <p:cNvPr id="27" name="Text 5"/>
          <p:cNvSpPr/>
          <p:nvPr/>
        </p:nvSpPr>
        <p:spPr>
          <a:xfrm>
            <a:off x="1033272" y="5148072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1920" dirty="0"/>
          </a:p>
        </p:txBody>
      </p:sp>
      <p:sp>
        <p:nvSpPr>
          <p:cNvPr id="28" name="Text 6"/>
          <p:cNvSpPr/>
          <p:nvPr/>
        </p:nvSpPr>
        <p:spPr>
          <a:xfrm>
            <a:off x="1458468" y="5513832"/>
            <a:ext cx="6089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Need structured framework to protect Confidentiality, Integrity, Availability (CIA).</a:t>
            </a:r>
            <a:endParaRPr lang="en-US" sz="2200" dirty="0"/>
          </a:p>
        </p:txBody>
      </p:sp>
      <p:sp>
        <p:nvSpPr>
          <p:cNvPr id="30" name="Text 8"/>
          <p:cNvSpPr/>
          <p:nvPr/>
        </p:nvSpPr>
        <p:spPr>
          <a:xfrm>
            <a:off x="7763256" y="2203704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920" dirty="0"/>
          </a:p>
        </p:txBody>
      </p:sp>
      <p:sp>
        <p:nvSpPr>
          <p:cNvPr id="31" name="Text 9"/>
          <p:cNvSpPr/>
          <p:nvPr/>
        </p:nvSpPr>
        <p:spPr>
          <a:xfrm>
            <a:off x="8202168" y="2615519"/>
            <a:ext cx="60899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Average cost of a data breach ≈ USD 4.45 million </a:t>
            </a:r>
          </a:p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(IBM 2024).</a:t>
            </a:r>
            <a:endParaRPr lang="en-US" sz="2200" dirty="0"/>
          </a:p>
        </p:txBody>
      </p:sp>
      <p:sp>
        <p:nvSpPr>
          <p:cNvPr id="32" name="Text 10"/>
          <p:cNvSpPr/>
          <p:nvPr/>
        </p:nvSpPr>
        <p:spPr>
          <a:xfrm>
            <a:off x="7763256" y="3675888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920" dirty="0"/>
          </a:p>
        </p:txBody>
      </p:sp>
      <p:sp>
        <p:nvSpPr>
          <p:cNvPr id="33" name="Text 11"/>
          <p:cNvSpPr/>
          <p:nvPr/>
        </p:nvSpPr>
        <p:spPr>
          <a:xfrm>
            <a:off x="8238744" y="3918204"/>
            <a:ext cx="385252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Threats → malware, phishing, ransomware, </a:t>
            </a:r>
          </a:p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insider misuse.</a:t>
            </a:r>
            <a:endParaRPr lang="en-US" sz="2200" dirty="0"/>
          </a:p>
        </p:txBody>
      </p:sp>
      <p:sp>
        <p:nvSpPr>
          <p:cNvPr id="35" name="Text 13"/>
          <p:cNvSpPr/>
          <p:nvPr/>
        </p:nvSpPr>
        <p:spPr>
          <a:xfrm>
            <a:off x="1458468" y="7241936"/>
            <a:ext cx="60899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ISO 27001 provides this framework.</a:t>
            </a:r>
            <a:endParaRPr lang="en-US" sz="2200" dirty="0"/>
          </a:p>
        </p:txBody>
      </p:sp>
      <p:pic>
        <p:nvPicPr>
          <p:cNvPr id="37" name="Picture 36" descr="A blue triangle with arrows and symbols&#10;&#10;AI-generated content may be incorrect.">
            <a:extLst>
              <a:ext uri="{FF2B5EF4-FFF2-40B4-BE49-F238E27FC236}">
                <a16:creationId xmlns:a16="http://schemas.microsoft.com/office/drawing/2014/main" id="{03FDB18B-3CE2-F2F5-965C-49AF5FEB946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5049" t="9905" r="14303" b="24230"/>
          <a:stretch/>
        </p:blipFill>
        <p:spPr>
          <a:xfrm>
            <a:off x="9604489" y="4910328"/>
            <a:ext cx="3309187" cy="3085096"/>
          </a:xfrm>
          <a:prstGeom prst="rect">
            <a:avLst/>
          </a:prstGeom>
        </p:spPr>
      </p:pic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6763159"/>
            <a:ext cx="420624" cy="420624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1062153" y="6629986"/>
            <a:ext cx="1157720" cy="699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6</a:t>
            </a:r>
            <a:endParaRPr lang="en-US" sz="1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63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514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3137" y="2759928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What is ISO/IEC 27001:2022</a:t>
            </a:r>
            <a:endParaRPr lang="en-US" sz="3840" dirty="0"/>
          </a:p>
        </p:txBody>
      </p:sp>
      <p:sp>
        <p:nvSpPr>
          <p:cNvPr id="5" name="Text 1"/>
          <p:cNvSpPr/>
          <p:nvPr/>
        </p:nvSpPr>
        <p:spPr>
          <a:xfrm>
            <a:off x="685800" y="5440680"/>
            <a:ext cx="102298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An internationally recognized standard for Information Security Management Systems (ISMS).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provides requirements to establish, implement, maintain &amp; continually improve ISMS.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supports risk-based decision making and compliance with laws &amp; regulations.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applies to organizations of any size or sector and works together with ISO 27002, 27005, 22301, etc.</a:t>
            </a:r>
            <a:endParaRPr lang="en-US" sz="2500" dirty="0"/>
          </a:p>
        </p:txBody>
      </p:sp>
      <p:pic>
        <p:nvPicPr>
          <p:cNvPr id="8" name="Picture 7" descr="A logo of a globe">
            <a:extLst>
              <a:ext uri="{FF2B5EF4-FFF2-40B4-BE49-F238E27FC236}">
                <a16:creationId xmlns:a16="http://schemas.microsoft.com/office/drawing/2014/main" id="{A2D0A042-B905-2945-D5BC-91425E9FD4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780" t="6669" r="8135" b="4647"/>
          <a:stretch/>
        </p:blipFill>
        <p:spPr>
          <a:xfrm>
            <a:off x="11345668" y="3917145"/>
            <a:ext cx="2854713" cy="30470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451705"/>
              </p:ext>
            </p:extLst>
          </p:nvPr>
        </p:nvGraphicFramePr>
        <p:xfrm>
          <a:off x="685800" y="2724911"/>
          <a:ext cx="13258800" cy="4238580"/>
        </p:xfrm>
        <a:graphic>
          <a:graphicData uri="http://schemas.openxmlformats.org/drawingml/2006/table">
            <a:tbl>
              <a:tblPr/>
              <a:tblGrid>
                <a:gridCol w="5068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643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2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03161C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Principle</a:t>
                      </a:r>
                      <a:endParaRPr lang="en-US" sz="2400" b="1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2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03161C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2400" b="1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3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Confidentiality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Only authorized persons can access information.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43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Integrity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Data is accurate and unaltered.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43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Availability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Authorized users get data when needed.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43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Risk-based Thinking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Security driven by systematic risk assessment.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43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Continuous Improvement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Adapt processes to new threats and technology.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676656" y="1266109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Core Principles of ISO 27001</a:t>
            </a:r>
            <a:endParaRPr lang="en-US" sz="3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86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514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429473"/>
            <a:ext cx="6537960" cy="110848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812057"/>
            <a:ext cx="6446520" cy="111350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5420554"/>
            <a:ext cx="6537960" cy="110848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6784402"/>
            <a:ext cx="6537960" cy="115716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" y="5449067"/>
            <a:ext cx="150876" cy="115312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6885209"/>
            <a:ext cx="134326" cy="102663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3" y="5429474"/>
            <a:ext cx="143569" cy="109728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6793545"/>
            <a:ext cx="151404" cy="1157163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681228" y="2592324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The PDCA Cycle (Continuous Improvement Model)</a:t>
            </a:r>
            <a:endParaRPr lang="en-US" sz="3840" dirty="0"/>
          </a:p>
        </p:txBody>
      </p:sp>
      <p:sp>
        <p:nvSpPr>
          <p:cNvPr id="13" name="Text 1"/>
          <p:cNvSpPr/>
          <p:nvPr/>
        </p:nvSpPr>
        <p:spPr>
          <a:xfrm>
            <a:off x="917932" y="4718527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500" b="1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PLAN → DO → CHECK → ACT</a:t>
            </a:r>
            <a:endParaRPr lang="en-US" sz="2500" b="1" dirty="0"/>
          </a:p>
        </p:txBody>
      </p:sp>
      <p:sp>
        <p:nvSpPr>
          <p:cNvPr id="14" name="Text 2"/>
          <p:cNvSpPr/>
          <p:nvPr/>
        </p:nvSpPr>
        <p:spPr>
          <a:xfrm>
            <a:off x="1005840" y="5703570"/>
            <a:ext cx="602589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5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Plan</a:t>
            </a:r>
            <a:endParaRPr lang="en-US" sz="2500" dirty="0"/>
          </a:p>
        </p:txBody>
      </p:sp>
      <p:sp>
        <p:nvSpPr>
          <p:cNvPr id="15" name="Text 3"/>
          <p:cNvSpPr/>
          <p:nvPr/>
        </p:nvSpPr>
        <p:spPr>
          <a:xfrm>
            <a:off x="896112" y="6085332"/>
            <a:ext cx="602589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3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Define context, scope, risk criteria, objectives.</a:t>
            </a:r>
            <a:endParaRPr lang="en-US" sz="2200" dirty="0"/>
          </a:p>
        </p:txBody>
      </p:sp>
      <p:sp>
        <p:nvSpPr>
          <p:cNvPr id="16" name="Text 4"/>
          <p:cNvSpPr/>
          <p:nvPr/>
        </p:nvSpPr>
        <p:spPr>
          <a:xfrm>
            <a:off x="941832" y="7111746"/>
            <a:ext cx="6025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5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Check</a:t>
            </a:r>
            <a:endParaRPr lang="en-US" sz="2500" dirty="0"/>
          </a:p>
        </p:txBody>
      </p:sp>
      <p:sp>
        <p:nvSpPr>
          <p:cNvPr id="17" name="Text 5"/>
          <p:cNvSpPr/>
          <p:nvPr/>
        </p:nvSpPr>
        <p:spPr>
          <a:xfrm>
            <a:off x="978408" y="7596601"/>
            <a:ext cx="602589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Audit &amp; measure performance (KPIs).</a:t>
            </a:r>
            <a:endParaRPr lang="en-US" sz="2200" dirty="0"/>
          </a:p>
        </p:txBody>
      </p:sp>
      <p:sp>
        <p:nvSpPr>
          <p:cNvPr id="18" name="Text 6"/>
          <p:cNvSpPr/>
          <p:nvPr/>
        </p:nvSpPr>
        <p:spPr>
          <a:xfrm>
            <a:off x="685800" y="6876288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9" name="Text 7"/>
          <p:cNvSpPr/>
          <p:nvPr/>
        </p:nvSpPr>
        <p:spPr>
          <a:xfrm>
            <a:off x="7735824" y="5678201"/>
            <a:ext cx="6025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5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Do</a:t>
            </a:r>
            <a:endParaRPr lang="en-US" sz="2500" dirty="0"/>
          </a:p>
        </p:txBody>
      </p:sp>
      <p:sp>
        <p:nvSpPr>
          <p:cNvPr id="20" name="Text 8"/>
          <p:cNvSpPr/>
          <p:nvPr/>
        </p:nvSpPr>
        <p:spPr>
          <a:xfrm>
            <a:off x="7662672" y="6057900"/>
            <a:ext cx="602589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Implement controls, training, procedures.</a:t>
            </a:r>
            <a:endParaRPr lang="en-US" sz="2200" dirty="0"/>
          </a:p>
        </p:txBody>
      </p:sp>
      <p:sp>
        <p:nvSpPr>
          <p:cNvPr id="21" name="Text 9"/>
          <p:cNvSpPr/>
          <p:nvPr/>
        </p:nvSpPr>
        <p:spPr>
          <a:xfrm>
            <a:off x="7671816" y="7108317"/>
            <a:ext cx="6025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5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Act</a:t>
            </a:r>
            <a:endParaRPr lang="en-US" sz="2500" dirty="0"/>
          </a:p>
        </p:txBody>
      </p:sp>
      <p:sp>
        <p:nvSpPr>
          <p:cNvPr id="22" name="Text 10"/>
          <p:cNvSpPr/>
          <p:nvPr/>
        </p:nvSpPr>
        <p:spPr>
          <a:xfrm>
            <a:off x="7626096" y="7538085"/>
            <a:ext cx="602589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Apply corrective actions, update policies.</a:t>
            </a:r>
            <a:endParaRPr lang="en-US" sz="2200" dirty="0"/>
          </a:p>
        </p:txBody>
      </p:sp>
      <p:pic>
        <p:nvPicPr>
          <p:cNvPr id="24" name="Picture 23" descr="A diagram of a cycle">
            <a:extLst>
              <a:ext uri="{FF2B5EF4-FFF2-40B4-BE49-F238E27FC236}">
                <a16:creationId xmlns:a16="http://schemas.microsoft.com/office/drawing/2014/main" id="{E43DAB63-6E49-8564-4B51-322A0BA165B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216" b="20605"/>
          <a:stretch/>
        </p:blipFill>
        <p:spPr>
          <a:xfrm>
            <a:off x="11224260" y="2496201"/>
            <a:ext cx="3177540" cy="2692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2112264"/>
            <a:ext cx="2651760" cy="13807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3666744"/>
            <a:ext cx="2651760" cy="138074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136" y="5212080"/>
            <a:ext cx="2651760" cy="1600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2112264"/>
            <a:ext cx="2651760" cy="138074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3666744"/>
            <a:ext cx="2651760" cy="138074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984" y="2112264"/>
            <a:ext cx="2651760" cy="138074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984" y="3666744"/>
            <a:ext cx="2651760" cy="138074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568" y="2670048"/>
            <a:ext cx="2587752" cy="79552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568" y="4224528"/>
            <a:ext cx="2587752" cy="79552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7568" y="5769864"/>
            <a:ext cx="2587752" cy="101498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064" y="2670048"/>
            <a:ext cx="2587752" cy="79552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064" y="4224528"/>
            <a:ext cx="2587752" cy="79552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8560" y="2670048"/>
            <a:ext cx="2587752" cy="79552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8560" y="4224528"/>
            <a:ext cx="2587752" cy="79552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8424" y="2130552"/>
            <a:ext cx="2624328" cy="55778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8424" y="3675888"/>
            <a:ext cx="2624328" cy="55778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8424" y="5230368"/>
            <a:ext cx="2624328" cy="55778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776" y="2130552"/>
            <a:ext cx="2624328" cy="55778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776" y="3675888"/>
            <a:ext cx="2624328" cy="55778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20272" y="2130552"/>
            <a:ext cx="2624328" cy="557784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20272" y="3675888"/>
            <a:ext cx="2624328" cy="557784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5660136" y="813816"/>
            <a:ext cx="829360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310"/>
              </a:lnSpc>
              <a:buNone/>
            </a:pPr>
            <a:r>
              <a:rPr lang="en-US" sz="345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Clauses of ISO 27001 (Clauses 4 – 10)</a:t>
            </a:r>
            <a:endParaRPr lang="en-US" sz="3450" dirty="0"/>
          </a:p>
        </p:txBody>
      </p:sp>
      <p:sp>
        <p:nvSpPr>
          <p:cNvPr id="26" name="Text 1"/>
          <p:cNvSpPr/>
          <p:nvPr/>
        </p:nvSpPr>
        <p:spPr>
          <a:xfrm>
            <a:off x="5870448" y="28437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Context of the Organization</a:t>
            </a:r>
            <a:endParaRPr lang="en-US" dirty="0"/>
          </a:p>
        </p:txBody>
      </p:sp>
      <p:sp>
        <p:nvSpPr>
          <p:cNvPr id="27" name="Text 2"/>
          <p:cNvSpPr/>
          <p:nvPr/>
        </p:nvSpPr>
        <p:spPr>
          <a:xfrm>
            <a:off x="6922008" y="224942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720" dirty="0"/>
          </a:p>
        </p:txBody>
      </p:sp>
      <p:sp>
        <p:nvSpPr>
          <p:cNvPr id="28" name="Text 3"/>
          <p:cNvSpPr/>
          <p:nvPr/>
        </p:nvSpPr>
        <p:spPr>
          <a:xfrm>
            <a:off x="5870448" y="439826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Support (Resources, Awareness, Docs)</a:t>
            </a:r>
            <a:endParaRPr lang="en-US" dirty="0"/>
          </a:p>
        </p:txBody>
      </p:sp>
      <p:sp>
        <p:nvSpPr>
          <p:cNvPr id="29" name="Text 4"/>
          <p:cNvSpPr/>
          <p:nvPr/>
        </p:nvSpPr>
        <p:spPr>
          <a:xfrm>
            <a:off x="6922008" y="380390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720" dirty="0"/>
          </a:p>
        </p:txBody>
      </p:sp>
      <p:sp>
        <p:nvSpPr>
          <p:cNvPr id="30" name="Text 5"/>
          <p:cNvSpPr/>
          <p:nvPr/>
        </p:nvSpPr>
        <p:spPr>
          <a:xfrm>
            <a:off x="5870448" y="59436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Improvement (Non-conformity &amp; Corrective Actions)</a:t>
            </a:r>
            <a:endParaRPr lang="en-US" dirty="0"/>
          </a:p>
        </p:txBody>
      </p:sp>
      <p:sp>
        <p:nvSpPr>
          <p:cNvPr id="31" name="Text 6"/>
          <p:cNvSpPr/>
          <p:nvPr/>
        </p:nvSpPr>
        <p:spPr>
          <a:xfrm>
            <a:off x="6922008" y="5349240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7</a:t>
            </a:r>
            <a:endParaRPr lang="en-US" sz="1720" dirty="0"/>
          </a:p>
        </p:txBody>
      </p:sp>
      <p:sp>
        <p:nvSpPr>
          <p:cNvPr id="33" name="Text 8"/>
          <p:cNvSpPr/>
          <p:nvPr/>
        </p:nvSpPr>
        <p:spPr>
          <a:xfrm>
            <a:off x="8686800" y="28437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Leadership and Commitment</a:t>
            </a:r>
            <a:endParaRPr lang="en-US" dirty="0"/>
          </a:p>
        </p:txBody>
      </p:sp>
      <p:sp>
        <p:nvSpPr>
          <p:cNvPr id="34" name="Text 9"/>
          <p:cNvSpPr/>
          <p:nvPr/>
        </p:nvSpPr>
        <p:spPr>
          <a:xfrm>
            <a:off x="8686800" y="439826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Operation (Implement Controls)</a:t>
            </a:r>
            <a:endParaRPr lang="en-US" dirty="0"/>
          </a:p>
        </p:txBody>
      </p:sp>
      <p:sp>
        <p:nvSpPr>
          <p:cNvPr id="35" name="Text 10"/>
          <p:cNvSpPr/>
          <p:nvPr/>
        </p:nvSpPr>
        <p:spPr>
          <a:xfrm>
            <a:off x="9738360" y="224942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720" dirty="0"/>
          </a:p>
        </p:txBody>
      </p:sp>
      <p:sp>
        <p:nvSpPr>
          <p:cNvPr id="36" name="Text 11"/>
          <p:cNvSpPr/>
          <p:nvPr/>
        </p:nvSpPr>
        <p:spPr>
          <a:xfrm>
            <a:off x="9738360" y="380390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1720" dirty="0"/>
          </a:p>
        </p:txBody>
      </p:sp>
      <p:sp>
        <p:nvSpPr>
          <p:cNvPr id="37" name="Text 12"/>
          <p:cNvSpPr/>
          <p:nvPr/>
        </p:nvSpPr>
        <p:spPr>
          <a:xfrm>
            <a:off x="11512296" y="28437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Planning (Risk &amp; Objectives)</a:t>
            </a:r>
            <a:endParaRPr lang="en-US" dirty="0"/>
          </a:p>
        </p:txBody>
      </p:sp>
      <p:sp>
        <p:nvSpPr>
          <p:cNvPr id="38" name="Text 13"/>
          <p:cNvSpPr/>
          <p:nvPr/>
        </p:nvSpPr>
        <p:spPr>
          <a:xfrm>
            <a:off x="11512296" y="439826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Performance Evaluation (Audits, KPIs)</a:t>
            </a:r>
            <a:endParaRPr lang="en-US" dirty="0"/>
          </a:p>
        </p:txBody>
      </p:sp>
      <p:sp>
        <p:nvSpPr>
          <p:cNvPr id="39" name="Text 14"/>
          <p:cNvSpPr/>
          <p:nvPr/>
        </p:nvSpPr>
        <p:spPr>
          <a:xfrm>
            <a:off x="12563856" y="224942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720" dirty="0"/>
          </a:p>
        </p:txBody>
      </p:sp>
      <p:sp>
        <p:nvSpPr>
          <p:cNvPr id="40" name="Text 15"/>
          <p:cNvSpPr/>
          <p:nvPr/>
        </p:nvSpPr>
        <p:spPr>
          <a:xfrm>
            <a:off x="12563856" y="380390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6</a:t>
            </a:r>
            <a:endParaRPr lang="en-US" sz="1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3410711"/>
            <a:ext cx="4050792" cy="154533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5525" y="5175503"/>
            <a:ext cx="4050792" cy="145947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952" y="3410712"/>
            <a:ext cx="4050792" cy="154533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952" y="5142054"/>
            <a:ext cx="4050792" cy="149292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660136" y="1508760"/>
            <a:ext cx="8293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Annex A Control Structure (93 Controls)</a:t>
            </a:r>
            <a:endParaRPr lang="en-US" sz="3840" dirty="0"/>
          </a:p>
        </p:txBody>
      </p:sp>
      <p:sp>
        <p:nvSpPr>
          <p:cNvPr id="9" name="Text 1"/>
          <p:cNvSpPr/>
          <p:nvPr/>
        </p:nvSpPr>
        <p:spPr>
          <a:xfrm>
            <a:off x="5660136" y="2944368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 Domains: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6432804" y="3728079"/>
            <a:ext cx="36027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Organizational (37)</a:t>
            </a:r>
            <a:endParaRPr lang="en-US" sz="2000" b="1" dirty="0"/>
          </a:p>
        </p:txBody>
      </p:sp>
      <p:sp>
        <p:nvSpPr>
          <p:cNvPr id="11" name="Text 3"/>
          <p:cNvSpPr/>
          <p:nvPr/>
        </p:nvSpPr>
        <p:spPr>
          <a:xfrm>
            <a:off x="5888736" y="4300915"/>
            <a:ext cx="3602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Policies, Supplier Management, BCP, Compliance.</a:t>
            </a:r>
            <a:endParaRPr lang="en-US" dirty="0"/>
          </a:p>
        </p:txBody>
      </p:sp>
      <p:sp>
        <p:nvSpPr>
          <p:cNvPr id="12" name="Text 4"/>
          <p:cNvSpPr/>
          <p:nvPr/>
        </p:nvSpPr>
        <p:spPr>
          <a:xfrm>
            <a:off x="6461909" y="5391616"/>
            <a:ext cx="36027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Physical (14)</a:t>
            </a:r>
            <a:endParaRPr lang="en-US" sz="2000" b="1" dirty="0"/>
          </a:p>
        </p:txBody>
      </p:sp>
      <p:sp>
        <p:nvSpPr>
          <p:cNvPr id="13" name="Text 5"/>
          <p:cNvSpPr/>
          <p:nvPr/>
        </p:nvSpPr>
        <p:spPr>
          <a:xfrm>
            <a:off x="5888736" y="5827184"/>
            <a:ext cx="343814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Secure Areas, Asset Disposal, Equipment Protection.</a:t>
            </a: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10543032" y="3686037"/>
            <a:ext cx="36027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People (8)</a:t>
            </a:r>
            <a:endParaRPr lang="en-US" sz="2000" b="1" dirty="0"/>
          </a:p>
        </p:txBody>
      </p:sp>
      <p:sp>
        <p:nvSpPr>
          <p:cNvPr id="16" name="Text 8"/>
          <p:cNvSpPr/>
          <p:nvPr/>
        </p:nvSpPr>
        <p:spPr>
          <a:xfrm>
            <a:off x="10131552" y="4222745"/>
            <a:ext cx="3602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Background checks, Training, Access Management.</a:t>
            </a:r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10527643" y="5371094"/>
            <a:ext cx="36027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Technological (34)</a:t>
            </a:r>
            <a:endParaRPr lang="en-US" sz="2000" b="1" dirty="0"/>
          </a:p>
        </p:txBody>
      </p:sp>
      <p:sp>
        <p:nvSpPr>
          <p:cNvPr id="18" name="Text 10"/>
          <p:cNvSpPr/>
          <p:nvPr/>
        </p:nvSpPr>
        <p:spPr>
          <a:xfrm>
            <a:off x="10131552" y="5833871"/>
            <a:ext cx="3602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Encryption, MFA, Monitoring, Backups.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2715768"/>
            <a:ext cx="260604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306824"/>
            <a:ext cx="2606040" cy="1371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2715768"/>
            <a:ext cx="2606040" cy="1371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4306824"/>
            <a:ext cx="260604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715768"/>
            <a:ext cx="2606040" cy="1371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06824"/>
            <a:ext cx="2606040" cy="1371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2907792"/>
            <a:ext cx="1636776" cy="97840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4498848"/>
            <a:ext cx="1636776" cy="97840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442716"/>
            <a:ext cx="1636776" cy="97840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824" y="4498848"/>
            <a:ext cx="1636776" cy="97840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2907792"/>
            <a:ext cx="1636776" cy="97840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4498848"/>
            <a:ext cx="1636776" cy="97840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2898648"/>
            <a:ext cx="420624" cy="42062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489704"/>
            <a:ext cx="420624" cy="42062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464" y="2898648"/>
            <a:ext cx="420624" cy="42062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464" y="4489704"/>
            <a:ext cx="420624" cy="42062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2898648"/>
            <a:ext cx="420624" cy="42062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4489704"/>
            <a:ext cx="420624" cy="420624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04088" y="1403604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Key Implementation Steps</a:t>
            </a:r>
            <a:endParaRPr lang="en-US" sz="3840" dirty="0"/>
          </a:p>
        </p:txBody>
      </p:sp>
      <p:sp>
        <p:nvSpPr>
          <p:cNvPr id="23" name="Text 1"/>
          <p:cNvSpPr/>
          <p:nvPr/>
        </p:nvSpPr>
        <p:spPr>
          <a:xfrm>
            <a:off x="1024128" y="2926080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920" dirty="0"/>
          </a:p>
        </p:txBody>
      </p:sp>
      <p:sp>
        <p:nvSpPr>
          <p:cNvPr id="24" name="Text 2"/>
          <p:cNvSpPr/>
          <p:nvPr/>
        </p:nvSpPr>
        <p:spPr>
          <a:xfrm>
            <a:off x="1481328" y="29077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2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Define scope and context of ISMS.</a:t>
            </a:r>
            <a:endParaRPr lang="en-US" sz="2000" dirty="0"/>
          </a:p>
        </p:txBody>
      </p:sp>
      <p:sp>
        <p:nvSpPr>
          <p:cNvPr id="25" name="Text 3"/>
          <p:cNvSpPr/>
          <p:nvPr/>
        </p:nvSpPr>
        <p:spPr>
          <a:xfrm>
            <a:off x="1024128" y="4517136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920" dirty="0"/>
          </a:p>
        </p:txBody>
      </p:sp>
      <p:sp>
        <p:nvSpPr>
          <p:cNvPr id="26" name="Text 4"/>
          <p:cNvSpPr/>
          <p:nvPr/>
        </p:nvSpPr>
        <p:spPr>
          <a:xfrm>
            <a:off x="1490472" y="468172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Deploy controls and conduct training.</a:t>
            </a:r>
            <a:endParaRPr lang="en-US" sz="2000" dirty="0"/>
          </a:p>
        </p:txBody>
      </p:sp>
      <p:sp>
        <p:nvSpPr>
          <p:cNvPr id="27" name="Text 5"/>
          <p:cNvSpPr/>
          <p:nvPr/>
        </p:nvSpPr>
        <p:spPr>
          <a:xfrm>
            <a:off x="3849624" y="2926080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920" dirty="0"/>
          </a:p>
        </p:txBody>
      </p:sp>
      <p:sp>
        <p:nvSpPr>
          <p:cNvPr id="28" name="Text 6"/>
          <p:cNvSpPr/>
          <p:nvPr/>
        </p:nvSpPr>
        <p:spPr>
          <a:xfrm>
            <a:off x="4306824" y="2931433"/>
            <a:ext cx="191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Identify assets and risk sources.</a:t>
            </a:r>
            <a:endParaRPr lang="en-US" sz="2000" dirty="0"/>
          </a:p>
        </p:txBody>
      </p:sp>
      <p:sp>
        <p:nvSpPr>
          <p:cNvPr id="29" name="Text 7"/>
          <p:cNvSpPr/>
          <p:nvPr/>
        </p:nvSpPr>
        <p:spPr>
          <a:xfrm>
            <a:off x="3849624" y="4517136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1920" dirty="0"/>
          </a:p>
        </p:txBody>
      </p:sp>
      <p:sp>
        <p:nvSpPr>
          <p:cNvPr id="31" name="Text 9"/>
          <p:cNvSpPr/>
          <p:nvPr/>
        </p:nvSpPr>
        <p:spPr>
          <a:xfrm>
            <a:off x="4334256" y="4642587"/>
            <a:ext cx="203911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Perform internal audits and management reviews.</a:t>
            </a:r>
            <a:endParaRPr lang="en-US" sz="2000" dirty="0"/>
          </a:p>
        </p:txBody>
      </p:sp>
      <p:sp>
        <p:nvSpPr>
          <p:cNvPr id="32" name="Text 10"/>
          <p:cNvSpPr/>
          <p:nvPr/>
        </p:nvSpPr>
        <p:spPr>
          <a:xfrm>
            <a:off x="6675120" y="2926080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920" dirty="0"/>
          </a:p>
        </p:txBody>
      </p:sp>
      <p:sp>
        <p:nvSpPr>
          <p:cNvPr id="33" name="Text 11"/>
          <p:cNvSpPr/>
          <p:nvPr/>
        </p:nvSpPr>
        <p:spPr>
          <a:xfrm>
            <a:off x="7141464" y="2907792"/>
            <a:ext cx="22311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Create Asset Register, SoA, Risk Treatment Plan.</a:t>
            </a:r>
            <a:endParaRPr lang="en-US" sz="2000" dirty="0"/>
          </a:p>
        </p:txBody>
      </p:sp>
      <p:sp>
        <p:nvSpPr>
          <p:cNvPr id="34" name="Text 12"/>
          <p:cNvSpPr/>
          <p:nvPr/>
        </p:nvSpPr>
        <p:spPr>
          <a:xfrm>
            <a:off x="6675120" y="4517136"/>
            <a:ext cx="14630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2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6</a:t>
            </a:r>
            <a:endParaRPr lang="en-US" sz="1920" dirty="0"/>
          </a:p>
        </p:txBody>
      </p:sp>
      <p:sp>
        <p:nvSpPr>
          <p:cNvPr id="35" name="Text 13"/>
          <p:cNvSpPr/>
          <p:nvPr/>
        </p:nvSpPr>
        <p:spPr>
          <a:xfrm>
            <a:off x="7187184" y="4532302"/>
            <a:ext cx="22311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Implement continual improvement actions.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-9144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19856"/>
            <a:ext cx="2642616" cy="12252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4778856"/>
            <a:ext cx="2642616" cy="108099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3419856"/>
            <a:ext cx="2642616" cy="12252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436" y="4778856"/>
            <a:ext cx="2642616" cy="108099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3419856"/>
            <a:ext cx="2642616" cy="126636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802830"/>
            <a:ext cx="2642616" cy="108099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662940" y="948328"/>
            <a:ext cx="8293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Benefits of Implementing ISO 27001</a:t>
            </a:r>
            <a:endParaRPr lang="en-US" sz="3840" dirty="0"/>
          </a:p>
        </p:txBody>
      </p:sp>
      <p:sp>
        <p:nvSpPr>
          <p:cNvPr id="11" name="Text 1"/>
          <p:cNvSpPr/>
          <p:nvPr/>
        </p:nvSpPr>
        <p:spPr>
          <a:xfrm>
            <a:off x="905256" y="3730752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Builds customer trust and brand reputation.</a:t>
            </a:r>
            <a:endParaRPr lang="en-US" sz="2000" dirty="0"/>
          </a:p>
        </p:txBody>
      </p:sp>
      <p:sp>
        <p:nvSpPr>
          <p:cNvPr id="12" name="Text 2"/>
          <p:cNvSpPr/>
          <p:nvPr/>
        </p:nvSpPr>
        <p:spPr>
          <a:xfrm>
            <a:off x="814039" y="4873752"/>
            <a:ext cx="2514377" cy="1080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Improves business continuity and resilience.</a:t>
            </a:r>
            <a:endParaRPr lang="en-US" sz="2000" dirty="0"/>
          </a:p>
        </p:txBody>
      </p:sp>
      <p:sp>
        <p:nvSpPr>
          <p:cNvPr id="13" name="Text 3"/>
          <p:cNvSpPr/>
          <p:nvPr/>
        </p:nvSpPr>
        <p:spPr>
          <a:xfrm>
            <a:off x="3739896" y="3666744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Reduces financial loss from security incidents.</a:t>
            </a:r>
            <a:endParaRPr lang="en-US" sz="2000" dirty="0"/>
          </a:p>
        </p:txBody>
      </p:sp>
      <p:sp>
        <p:nvSpPr>
          <p:cNvPr id="15" name="Text 5"/>
          <p:cNvSpPr/>
          <p:nvPr/>
        </p:nvSpPr>
        <p:spPr>
          <a:xfrm>
            <a:off x="3749040" y="5094991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Encourages security culture across staff.</a:t>
            </a:r>
            <a:endParaRPr lang="en-US" sz="2000" dirty="0"/>
          </a:p>
        </p:txBody>
      </p:sp>
      <p:sp>
        <p:nvSpPr>
          <p:cNvPr id="16" name="Text 6"/>
          <p:cNvSpPr/>
          <p:nvPr/>
        </p:nvSpPr>
        <p:spPr>
          <a:xfrm>
            <a:off x="6565392" y="3538728"/>
            <a:ext cx="2185416" cy="101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Ensures regulatory compliance (GDPR, PDPA, HIPAA).</a:t>
            </a:r>
            <a:endParaRPr lang="en-US" sz="2000" dirty="0"/>
          </a:p>
        </p:txBody>
      </p:sp>
      <p:sp>
        <p:nvSpPr>
          <p:cNvPr id="17" name="Text 7"/>
          <p:cNvSpPr/>
          <p:nvPr/>
        </p:nvSpPr>
        <p:spPr>
          <a:xfrm>
            <a:off x="6606540" y="5035696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Attracts partners through verified security credentials.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260"/>
            <a:ext cx="14630400" cy="8238744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794745"/>
              </p:ext>
            </p:extLst>
          </p:nvPr>
        </p:nvGraphicFramePr>
        <p:xfrm>
          <a:off x="685800" y="2990088"/>
          <a:ext cx="13258800" cy="2651760"/>
        </p:xfrm>
        <a:graphic>
          <a:graphicData uri="http://schemas.openxmlformats.org/drawingml/2006/table">
            <a:tbl>
              <a:tblPr/>
              <a:tblGrid>
                <a:gridCol w="448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0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2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03161C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Role</a:t>
                      </a:r>
                      <a:endParaRPr lang="en-US" sz="2200" b="1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2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03161C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Responsibility</a:t>
                      </a:r>
                      <a:endParaRPr lang="en-US" sz="2200" b="1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Top Management</a:t>
                      </a:r>
                      <a:endParaRPr lang="en-US" sz="20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Approve policies, allocate resources, review ISMS.</a:t>
                      </a:r>
                      <a:endParaRPr lang="en-US" sz="20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ISMS Manager</a:t>
                      </a:r>
                      <a:endParaRPr lang="en-US" sz="20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Implement and maintain the system.</a:t>
                      </a:r>
                      <a:endParaRPr lang="en-US" sz="20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Risk Owner</a:t>
                      </a:r>
                      <a:endParaRPr lang="en-US" sz="20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Evaluate and treat risks effectively.</a:t>
                      </a:r>
                      <a:endParaRPr lang="en-US" sz="20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Employees</a:t>
                      </a:r>
                      <a:endParaRPr lang="en-US" sz="20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Follow policies and report incidents.</a:t>
                      </a:r>
                      <a:endParaRPr lang="en-US" sz="20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676656" y="1226300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Roles and Responsibilities</a:t>
            </a:r>
            <a:endParaRPr lang="en-US" sz="3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049058"/>
              </p:ext>
            </p:extLst>
          </p:nvPr>
        </p:nvGraphicFramePr>
        <p:xfrm>
          <a:off x="685800" y="2487169"/>
          <a:ext cx="13258800" cy="4794708"/>
        </p:xfrm>
        <a:graphic>
          <a:graphicData uri="http://schemas.openxmlformats.org/drawingml/2006/table">
            <a:tbl>
              <a:tblPr/>
              <a:tblGrid>
                <a:gridCol w="456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8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8019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2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03161C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Challenge</a:t>
                      </a:r>
                      <a:endParaRPr lang="en-US" sz="2400" b="1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2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03161C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Solution</a:t>
                      </a:r>
                      <a:endParaRPr lang="en-US" sz="2400" b="1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D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20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Lack of Leadership Support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Get executive sponsorship &amp; ROI proof.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1703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Poor Documentation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 standardized templates and reviews.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59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Low Awareness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Run monthly training &amp; email campaigns.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418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Resource Limitations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2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2E2E2E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Implement in phases – focus on critical assets first.</a:t>
                      </a:r>
                      <a:endParaRPr lang="en-US" sz="2400" dirty="0"/>
                    </a:p>
                  </a:txBody>
                  <a:tcPr marL="194310" marR="194310" marT="116840" marB="11684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C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685800" y="882396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Common Challenges &amp; Solutions</a:t>
            </a:r>
            <a:endParaRPr lang="en-US" sz="3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1545336"/>
            <a:ext cx="8266176" cy="1691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438144"/>
            <a:ext cx="8266176" cy="1691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5340096"/>
            <a:ext cx="8266176" cy="19110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837944"/>
            <a:ext cx="8293608" cy="14173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730752"/>
            <a:ext cx="8293608" cy="14173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623560"/>
            <a:ext cx="8293608" cy="163677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746504"/>
            <a:ext cx="8293608" cy="11887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648456"/>
            <a:ext cx="8293608" cy="11887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541264"/>
            <a:ext cx="8293608" cy="1188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1545336"/>
            <a:ext cx="530352" cy="53035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3438144"/>
            <a:ext cx="530352" cy="53035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5340096"/>
            <a:ext cx="530352" cy="530352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85800" y="786384"/>
            <a:ext cx="8293608" cy="557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310"/>
              </a:lnSpc>
              <a:buNone/>
            </a:pPr>
            <a:r>
              <a:rPr lang="en-US" sz="345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Real-World Examples</a:t>
            </a:r>
            <a:endParaRPr lang="en-US" sz="3450" dirty="0"/>
          </a:p>
        </p:txBody>
      </p:sp>
      <p:sp>
        <p:nvSpPr>
          <p:cNvPr id="17" name="Text 1"/>
          <p:cNvSpPr/>
          <p:nvPr/>
        </p:nvSpPr>
        <p:spPr>
          <a:xfrm>
            <a:off x="896112" y="2221992"/>
            <a:ext cx="788212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200" b="1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Hospital X</a:t>
            </a:r>
            <a:endParaRPr lang="en-US" sz="2200" b="1" dirty="0"/>
          </a:p>
        </p:txBody>
      </p:sp>
      <p:sp>
        <p:nvSpPr>
          <p:cNvPr id="18" name="Text 2"/>
          <p:cNvSpPr/>
          <p:nvPr/>
        </p:nvSpPr>
        <p:spPr>
          <a:xfrm>
            <a:off x="896112" y="2651760"/>
            <a:ext cx="78821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sz="13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Implemented ISO 27001 → reduced data breaches by 40%.</a:t>
            </a:r>
            <a:endParaRPr lang="en-US" dirty="0"/>
          </a:p>
        </p:txBody>
      </p:sp>
      <p:sp>
        <p:nvSpPr>
          <p:cNvPr id="19" name="Text 3"/>
          <p:cNvSpPr/>
          <p:nvPr/>
        </p:nvSpPr>
        <p:spPr>
          <a:xfrm>
            <a:off x="896112" y="4114800"/>
            <a:ext cx="788212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Bank</a:t>
            </a:r>
            <a:r>
              <a:rPr lang="en-US" sz="172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 Y</a:t>
            </a:r>
            <a:endParaRPr lang="en-US" sz="1720" dirty="0"/>
          </a:p>
        </p:txBody>
      </p:sp>
      <p:sp>
        <p:nvSpPr>
          <p:cNvPr id="20" name="Text 4"/>
          <p:cNvSpPr/>
          <p:nvPr/>
        </p:nvSpPr>
        <p:spPr>
          <a:xfrm>
            <a:off x="896112" y="4544568"/>
            <a:ext cx="78821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Used ISO 27001 to align with Central Bank guidelines.</a:t>
            </a:r>
            <a:endParaRPr lang="en-US" sz="2000" dirty="0"/>
          </a:p>
        </p:txBody>
      </p:sp>
      <p:sp>
        <p:nvSpPr>
          <p:cNvPr id="21" name="Text 5"/>
          <p:cNvSpPr/>
          <p:nvPr/>
        </p:nvSpPr>
        <p:spPr>
          <a:xfrm>
            <a:off x="4754880" y="1618488"/>
            <a:ext cx="15544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0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070" dirty="0"/>
          </a:p>
        </p:txBody>
      </p:sp>
      <p:sp>
        <p:nvSpPr>
          <p:cNvPr id="22" name="Text 6"/>
          <p:cNvSpPr/>
          <p:nvPr/>
        </p:nvSpPr>
        <p:spPr>
          <a:xfrm>
            <a:off x="4754880" y="3520440"/>
            <a:ext cx="15544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0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070" dirty="0"/>
          </a:p>
        </p:txBody>
      </p:sp>
      <p:sp>
        <p:nvSpPr>
          <p:cNvPr id="23" name="Text 7"/>
          <p:cNvSpPr/>
          <p:nvPr/>
        </p:nvSpPr>
        <p:spPr>
          <a:xfrm>
            <a:off x="896112" y="6007608"/>
            <a:ext cx="788212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2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Tech Startup Z</a:t>
            </a:r>
            <a:endParaRPr lang="en-US" sz="2200" dirty="0"/>
          </a:p>
        </p:txBody>
      </p:sp>
      <p:sp>
        <p:nvSpPr>
          <p:cNvPr id="24" name="Text 8"/>
          <p:cNvSpPr/>
          <p:nvPr/>
        </p:nvSpPr>
        <p:spPr>
          <a:xfrm>
            <a:off x="896112" y="6437376"/>
            <a:ext cx="7882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2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Achieved faster client onboarding after certification. (Optional: include one Sri Lankan organization if known)</a:t>
            </a:r>
            <a:endParaRPr lang="en-US" sz="2000" dirty="0"/>
          </a:p>
        </p:txBody>
      </p:sp>
      <p:sp>
        <p:nvSpPr>
          <p:cNvPr id="25" name="Text 9"/>
          <p:cNvSpPr/>
          <p:nvPr/>
        </p:nvSpPr>
        <p:spPr>
          <a:xfrm>
            <a:off x="4754880" y="5413248"/>
            <a:ext cx="15544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0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0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2798956"/>
            <a:ext cx="2642616" cy="15444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136" y="4535423"/>
            <a:ext cx="4050792" cy="96714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798956"/>
            <a:ext cx="2642616" cy="154444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2952" y="4535424"/>
            <a:ext cx="4050792" cy="96714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0272" y="2798956"/>
            <a:ext cx="2642616" cy="154444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136" y="3355848"/>
            <a:ext cx="128016" cy="98755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0136" y="4535424"/>
            <a:ext cx="128016" cy="50292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3355848"/>
            <a:ext cx="128016" cy="98755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2952" y="4535424"/>
            <a:ext cx="128016" cy="50292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0272" y="3355848"/>
            <a:ext cx="128016" cy="987552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564124" y="1408622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Measuring Performance (KPIs)</a:t>
            </a:r>
            <a:endParaRPr lang="en-US" sz="3840" dirty="0"/>
          </a:p>
        </p:txBody>
      </p:sp>
      <p:sp>
        <p:nvSpPr>
          <p:cNvPr id="15" name="Text 1"/>
          <p:cNvSpPr/>
          <p:nvPr/>
        </p:nvSpPr>
        <p:spPr>
          <a:xfrm>
            <a:off x="6016752" y="3381607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Incident Rate ↓ per quarter.</a:t>
            </a:r>
            <a:endParaRPr lang="en-US" sz="2400" dirty="0"/>
          </a:p>
        </p:txBody>
      </p:sp>
      <p:sp>
        <p:nvSpPr>
          <p:cNvPr id="16" name="Text 2"/>
          <p:cNvSpPr/>
          <p:nvPr/>
        </p:nvSpPr>
        <p:spPr>
          <a:xfrm>
            <a:off x="6117336" y="4914900"/>
            <a:ext cx="3538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Audit Closure Rate.</a:t>
            </a:r>
            <a:endParaRPr lang="en-US" sz="2400" dirty="0"/>
          </a:p>
        </p:txBody>
      </p:sp>
      <p:sp>
        <p:nvSpPr>
          <p:cNvPr id="18" name="Text 4"/>
          <p:cNvSpPr/>
          <p:nvPr/>
        </p:nvSpPr>
        <p:spPr>
          <a:xfrm>
            <a:off x="8842248" y="324612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Mean Time to Detect (MTTD) and Respond (MTTR).</a:t>
            </a:r>
            <a:endParaRPr lang="en-US" sz="2400" dirty="0"/>
          </a:p>
        </p:txBody>
      </p:sp>
      <p:sp>
        <p:nvSpPr>
          <p:cNvPr id="19" name="Text 5"/>
          <p:cNvSpPr/>
          <p:nvPr/>
        </p:nvSpPr>
        <p:spPr>
          <a:xfrm>
            <a:off x="10396728" y="4926386"/>
            <a:ext cx="3538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Risk Reduction Index.</a:t>
            </a:r>
            <a:endParaRPr lang="en-US" sz="2400" dirty="0"/>
          </a:p>
        </p:txBody>
      </p:sp>
      <p:sp>
        <p:nvSpPr>
          <p:cNvPr id="20" name="Text 6"/>
          <p:cNvSpPr/>
          <p:nvPr/>
        </p:nvSpPr>
        <p:spPr>
          <a:xfrm>
            <a:off x="11640312" y="336499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% of Employees Trained in InfoSec.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03" y="-9144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0136" y="932688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Conclusion </a:t>
            </a:r>
            <a:endParaRPr lang="en-US" sz="384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26185D8-BB53-ABC9-45FF-469E7FA9F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854" y="2243718"/>
            <a:ext cx="789417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ISO/IEC 27001:2022 is more than a compliance standard  it is a framework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trust, resilience, and continual improvement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By integrating information security into daily operations, organizations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reduce risks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protect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build confidence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with customers and partners.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standard promotes a culture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accountability, awareness, and adaptability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against evolving cyber threats.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Through proper implementation, monitoring, and review, the ISMS becomes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strategic asset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that strengthens overall business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3593592"/>
            <a:ext cx="13267944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Thank You</a:t>
            </a:r>
            <a:endParaRPr lang="en-US" sz="52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872</Words>
  <Application>Microsoft Office PowerPoint</Application>
  <PresentationFormat>Custom</PresentationFormat>
  <Paragraphs>171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AlibabaPuHuiTi-Alibaba-PuHuiTi</vt:lpstr>
      <vt:lpstr>Arial</vt:lpstr>
      <vt:lpstr>思源黑体-思源黑体-Medium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RANASINGHE T H it23269484</cp:lastModifiedBy>
  <cp:revision>4</cp:revision>
  <dcterms:created xsi:type="dcterms:W3CDTF">2025-10-12T11:44:50Z</dcterms:created>
  <dcterms:modified xsi:type="dcterms:W3CDTF">2025-10-12T14:51:42Z</dcterms:modified>
</cp:coreProperties>
</file>